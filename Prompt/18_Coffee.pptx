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45E13B7-0558-4107-810F-FDEF7F772134}" v="3" dt="2026-05-10T07:23:17.36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73" autoAdjust="0"/>
    <p:restoredTop sz="94660"/>
  </p:normalViewPr>
  <p:slideViewPr>
    <p:cSldViewPr snapToGrid="0">
      <p:cViewPr varScale="1">
        <p:scale>
          <a:sx n="85" d="100"/>
          <a:sy n="85" d="100"/>
        </p:scale>
        <p:origin x="78" y="1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黃家瑞" userId="S::jerry@jerryconic.onmicrosoft.com::cbeb5216-02b1-442f-9ecc-97627d66f837" providerId="AD" clId="Web-{B45E13B7-0558-4107-810F-FDEF7F772134}"/>
    <pc:docChg chg="mod addSld delSld modSld addMainMaster delMainMaster modMainMaster modNotesMaster setSldSz">
      <pc:chgData name="黃家瑞" userId="S::jerry@jerryconic.onmicrosoft.com::cbeb5216-02b1-442f-9ecc-97627d66f837" providerId="AD" clId="Web-{B45E13B7-0558-4107-810F-FDEF7F772134}" dt="2026-05-10T07:23:17.366" v="2"/>
      <pc:docMkLst>
        <pc:docMk/>
      </pc:docMkLst>
      <pc:sldChg chg="add">
        <pc:chgData name="黃家瑞" userId="S::jerry@jerryconic.onmicrosoft.com::cbeb5216-02b1-442f-9ecc-97627d66f837" providerId="AD" clId="Web-{B45E13B7-0558-4107-810F-FDEF7F772134}" dt="2026-05-10T07:23:17.366" v="2"/>
        <pc:sldMkLst>
          <pc:docMk/>
          <pc:sldMk cId="0" sldId="256"/>
        </pc:sldMkLst>
      </pc:sldChg>
      <pc:sldChg chg="add">
        <pc:chgData name="黃家瑞" userId="S::jerry@jerryconic.onmicrosoft.com::cbeb5216-02b1-442f-9ecc-97627d66f837" providerId="AD" clId="Web-{B45E13B7-0558-4107-810F-FDEF7F772134}" dt="2026-05-10T07:23:17.366" v="2"/>
        <pc:sldMkLst>
          <pc:docMk/>
          <pc:sldMk cId="0" sldId="257"/>
        </pc:sldMkLst>
      </pc:sldChg>
      <pc:sldChg chg="add">
        <pc:chgData name="黃家瑞" userId="S::jerry@jerryconic.onmicrosoft.com::cbeb5216-02b1-442f-9ecc-97627d66f837" providerId="AD" clId="Web-{B45E13B7-0558-4107-810F-FDEF7F772134}" dt="2026-05-10T07:23:17.366" v="2"/>
        <pc:sldMkLst>
          <pc:docMk/>
          <pc:sldMk cId="0" sldId="258"/>
        </pc:sldMkLst>
      </pc:sldChg>
      <pc:sldChg chg="add">
        <pc:chgData name="黃家瑞" userId="S::jerry@jerryconic.onmicrosoft.com::cbeb5216-02b1-442f-9ecc-97627d66f837" providerId="AD" clId="Web-{B45E13B7-0558-4107-810F-FDEF7F772134}" dt="2026-05-10T07:23:17.366" v="2"/>
        <pc:sldMkLst>
          <pc:docMk/>
          <pc:sldMk cId="0" sldId="259"/>
        </pc:sldMkLst>
      </pc:sldChg>
      <pc:sldChg chg="add">
        <pc:chgData name="黃家瑞" userId="S::jerry@jerryconic.onmicrosoft.com::cbeb5216-02b1-442f-9ecc-97627d66f837" providerId="AD" clId="Web-{B45E13B7-0558-4107-810F-FDEF7F772134}" dt="2026-05-10T07:23:17.366" v="2"/>
        <pc:sldMkLst>
          <pc:docMk/>
          <pc:sldMk cId="0" sldId="260"/>
        </pc:sldMkLst>
      </pc:sldChg>
      <pc:sldChg chg="add">
        <pc:chgData name="黃家瑞" userId="S::jerry@jerryconic.onmicrosoft.com::cbeb5216-02b1-442f-9ecc-97627d66f837" providerId="AD" clId="Web-{B45E13B7-0558-4107-810F-FDEF7F772134}" dt="2026-05-10T07:23:17.366" v="2"/>
        <pc:sldMkLst>
          <pc:docMk/>
          <pc:sldMk cId="0" sldId="261"/>
        </pc:sldMkLst>
      </pc:sldChg>
      <pc:sldChg chg="add">
        <pc:chgData name="黃家瑞" userId="S::jerry@jerryconic.onmicrosoft.com::cbeb5216-02b1-442f-9ecc-97627d66f837" providerId="AD" clId="Web-{B45E13B7-0558-4107-810F-FDEF7F772134}" dt="2026-05-10T07:23:17.366" v="2"/>
        <pc:sldMkLst>
          <pc:docMk/>
          <pc:sldMk cId="0" sldId="262"/>
        </pc:sldMkLst>
      </pc:sldChg>
      <pc:sldChg chg="add">
        <pc:chgData name="黃家瑞" userId="S::jerry@jerryconic.onmicrosoft.com::cbeb5216-02b1-442f-9ecc-97627d66f837" providerId="AD" clId="Web-{B45E13B7-0558-4107-810F-FDEF7F772134}" dt="2026-05-10T07:23:17.366" v="2"/>
        <pc:sldMkLst>
          <pc:docMk/>
          <pc:sldMk cId="0" sldId="263"/>
        </pc:sldMkLst>
      </pc:sldChg>
      <pc:sldChg chg="add">
        <pc:chgData name="黃家瑞" userId="S::jerry@jerryconic.onmicrosoft.com::cbeb5216-02b1-442f-9ecc-97627d66f837" providerId="AD" clId="Web-{B45E13B7-0558-4107-810F-FDEF7F772134}" dt="2026-05-10T07:23:17.366" v="2"/>
        <pc:sldMkLst>
          <pc:docMk/>
          <pc:sldMk cId="0" sldId="264"/>
        </pc:sldMkLst>
      </pc:sldChg>
      <pc:sldChg chg="add">
        <pc:chgData name="黃家瑞" userId="S::jerry@jerryconic.onmicrosoft.com::cbeb5216-02b1-442f-9ecc-97627d66f837" providerId="AD" clId="Web-{B45E13B7-0558-4107-810F-FDEF7F772134}" dt="2026-05-10T07:23:17.366" v="2"/>
        <pc:sldMkLst>
          <pc:docMk/>
          <pc:sldMk cId="0" sldId="265"/>
        </pc:sldMkLst>
      </pc:sldChg>
      <pc:sldChg chg="del replId">
        <pc:chgData name="黃家瑞" userId="S::jerry@jerryconic.onmicrosoft.com::cbeb5216-02b1-442f-9ecc-97627d66f837" providerId="AD" clId="Web-{B45E13B7-0558-4107-810F-FDEF7F772134}" dt="2026-05-10T07:23:17.366" v="2"/>
        <pc:sldMkLst>
          <pc:docMk/>
          <pc:sldMk cId="2592129946" sldId="266"/>
        </pc:sldMkLst>
      </pc:sldChg>
      <pc:sldMasterChg chg="add addSldLayout">
        <pc:chgData name="黃家瑞" userId="S::jerry@jerryconic.onmicrosoft.com::cbeb5216-02b1-442f-9ecc-97627d66f837" providerId="AD" clId="Web-{B45E13B7-0558-4107-810F-FDEF7F772134}" dt="2026-05-10T07:23:17.366" v="2"/>
        <pc:sldMasterMkLst>
          <pc:docMk/>
          <pc:sldMasterMk cId="0" sldId="2147483648"/>
        </pc:sldMasterMkLst>
        <pc:sldLayoutChg chg="add">
          <pc:chgData name="黃家瑞" userId="S::jerry@jerryconic.onmicrosoft.com::cbeb5216-02b1-442f-9ecc-97627d66f837" providerId="AD" clId="Web-{B45E13B7-0558-4107-810F-FDEF7F772134}" dt="2026-05-10T07:23:17.366" v="2"/>
          <pc:sldLayoutMkLst>
            <pc:docMk/>
            <pc:sldMasterMk cId="0" sldId="2147483648"/>
            <pc:sldLayoutMk cId="0" sldId="2147483649"/>
          </pc:sldLayoutMkLst>
        </pc:sldLayoutChg>
      </pc:sldMasterChg>
      <pc:sldMasterChg chg="del replId delSldLayout modSldLayout">
        <pc:chgData name="黃家瑞" userId="S::jerry@jerryconic.onmicrosoft.com::cbeb5216-02b1-442f-9ecc-97627d66f837" providerId="AD" clId="Web-{B45E13B7-0558-4107-810F-FDEF7F772134}" dt="2026-05-10T07:23:17.366" v="2"/>
        <pc:sldMasterMkLst>
          <pc:docMk/>
          <pc:sldMasterMk cId="3221134675" sldId="2147483660"/>
        </pc:sldMasterMkLst>
        <pc:sldLayoutChg chg="del">
          <pc:chgData name="黃家瑞" userId="S::jerry@jerryconic.onmicrosoft.com::cbeb5216-02b1-442f-9ecc-97627d66f837" providerId="AD" clId="Web-{B45E13B7-0558-4107-810F-FDEF7F772134}" dt="2026-05-10T07:23:17.366" v="2"/>
          <pc:sldLayoutMkLst>
            <pc:docMk/>
            <pc:sldMasterMk cId="3221134675" sldId="2147483660"/>
            <pc:sldLayoutMk cId="2392236802" sldId="2147483650"/>
          </pc:sldLayoutMkLst>
        </pc:sldLayoutChg>
        <pc:sldLayoutChg chg="del">
          <pc:chgData name="黃家瑞" userId="S::jerry@jerryconic.onmicrosoft.com::cbeb5216-02b1-442f-9ecc-97627d66f837" providerId="AD" clId="Web-{B45E13B7-0558-4107-810F-FDEF7F772134}" dt="2026-05-10T07:23:17.366" v="2"/>
          <pc:sldLayoutMkLst>
            <pc:docMk/>
            <pc:sldMasterMk cId="3221134675" sldId="2147483660"/>
            <pc:sldLayoutMk cId="2154042259" sldId="2147483651"/>
          </pc:sldLayoutMkLst>
        </pc:sldLayoutChg>
        <pc:sldLayoutChg chg="del">
          <pc:chgData name="黃家瑞" userId="S::jerry@jerryconic.onmicrosoft.com::cbeb5216-02b1-442f-9ecc-97627d66f837" providerId="AD" clId="Web-{B45E13B7-0558-4107-810F-FDEF7F772134}" dt="2026-05-10T07:23:17.366" v="2"/>
          <pc:sldLayoutMkLst>
            <pc:docMk/>
            <pc:sldMasterMk cId="3221134675" sldId="2147483660"/>
            <pc:sldLayoutMk cId="597651056" sldId="2147483652"/>
          </pc:sldLayoutMkLst>
        </pc:sldLayoutChg>
        <pc:sldLayoutChg chg="del">
          <pc:chgData name="黃家瑞" userId="S::jerry@jerryconic.onmicrosoft.com::cbeb5216-02b1-442f-9ecc-97627d66f837" providerId="AD" clId="Web-{B45E13B7-0558-4107-810F-FDEF7F772134}" dt="2026-05-10T07:23:17.366" v="2"/>
          <pc:sldLayoutMkLst>
            <pc:docMk/>
            <pc:sldMasterMk cId="3221134675" sldId="2147483660"/>
            <pc:sldLayoutMk cId="1644048710" sldId="2147483653"/>
          </pc:sldLayoutMkLst>
        </pc:sldLayoutChg>
        <pc:sldLayoutChg chg="del">
          <pc:chgData name="黃家瑞" userId="S::jerry@jerryconic.onmicrosoft.com::cbeb5216-02b1-442f-9ecc-97627d66f837" providerId="AD" clId="Web-{B45E13B7-0558-4107-810F-FDEF7F772134}" dt="2026-05-10T07:23:17.366" v="2"/>
          <pc:sldLayoutMkLst>
            <pc:docMk/>
            <pc:sldMasterMk cId="3221134675" sldId="2147483660"/>
            <pc:sldLayoutMk cId="1864656770" sldId="2147483654"/>
          </pc:sldLayoutMkLst>
        </pc:sldLayoutChg>
        <pc:sldLayoutChg chg="del">
          <pc:chgData name="黃家瑞" userId="S::jerry@jerryconic.onmicrosoft.com::cbeb5216-02b1-442f-9ecc-97627d66f837" providerId="AD" clId="Web-{B45E13B7-0558-4107-810F-FDEF7F772134}" dt="2026-05-10T07:23:17.366" v="2"/>
          <pc:sldLayoutMkLst>
            <pc:docMk/>
            <pc:sldMasterMk cId="3221134675" sldId="2147483660"/>
            <pc:sldLayoutMk cId="3410961386" sldId="2147483655"/>
          </pc:sldLayoutMkLst>
        </pc:sldLayoutChg>
        <pc:sldLayoutChg chg="del">
          <pc:chgData name="黃家瑞" userId="S::jerry@jerryconic.onmicrosoft.com::cbeb5216-02b1-442f-9ecc-97627d66f837" providerId="AD" clId="Web-{B45E13B7-0558-4107-810F-FDEF7F772134}" dt="2026-05-10T07:23:17.366" v="2"/>
          <pc:sldLayoutMkLst>
            <pc:docMk/>
            <pc:sldMasterMk cId="3221134675" sldId="2147483660"/>
            <pc:sldLayoutMk cId="361526853" sldId="2147483656"/>
          </pc:sldLayoutMkLst>
        </pc:sldLayoutChg>
        <pc:sldLayoutChg chg="del">
          <pc:chgData name="黃家瑞" userId="S::jerry@jerryconic.onmicrosoft.com::cbeb5216-02b1-442f-9ecc-97627d66f837" providerId="AD" clId="Web-{B45E13B7-0558-4107-810F-FDEF7F772134}" dt="2026-05-10T07:23:17.366" v="2"/>
          <pc:sldLayoutMkLst>
            <pc:docMk/>
            <pc:sldMasterMk cId="3221134675" sldId="2147483660"/>
            <pc:sldLayoutMk cId="3012263201" sldId="2147483657"/>
          </pc:sldLayoutMkLst>
        </pc:sldLayoutChg>
        <pc:sldLayoutChg chg="del">
          <pc:chgData name="黃家瑞" userId="S::jerry@jerryconic.onmicrosoft.com::cbeb5216-02b1-442f-9ecc-97627d66f837" providerId="AD" clId="Web-{B45E13B7-0558-4107-810F-FDEF7F772134}" dt="2026-05-10T07:23:17.366" v="2"/>
          <pc:sldLayoutMkLst>
            <pc:docMk/>
            <pc:sldMasterMk cId="3221134675" sldId="2147483660"/>
            <pc:sldLayoutMk cId="118045649" sldId="2147483658"/>
          </pc:sldLayoutMkLst>
        </pc:sldLayoutChg>
        <pc:sldLayoutChg chg="del">
          <pc:chgData name="黃家瑞" userId="S::jerry@jerryconic.onmicrosoft.com::cbeb5216-02b1-442f-9ecc-97627d66f837" providerId="AD" clId="Web-{B45E13B7-0558-4107-810F-FDEF7F772134}" dt="2026-05-10T07:23:17.366" v="2"/>
          <pc:sldLayoutMkLst>
            <pc:docMk/>
            <pc:sldMasterMk cId="3221134675" sldId="2147483660"/>
            <pc:sldLayoutMk cId="4095651481" sldId="2147483659"/>
          </pc:sldLayoutMkLst>
        </pc:sldLayoutChg>
        <pc:sldLayoutChg chg="del replId">
          <pc:chgData name="黃家瑞" userId="S::jerry@jerryconic.onmicrosoft.com::cbeb5216-02b1-442f-9ecc-97627d66f837" providerId="AD" clId="Web-{B45E13B7-0558-4107-810F-FDEF7F772134}" dt="2026-05-10T07:23:17.366" v="2"/>
          <pc:sldLayoutMkLst>
            <pc:docMk/>
            <pc:sldMasterMk cId="3221134675" sldId="2147483660"/>
            <pc:sldLayoutMk cId="1334484747" sldId="2147483661"/>
          </pc:sldLayoutMkLst>
        </pc:sldLayoutChg>
      </pc:sldMaster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成本佔比</c:v>
                </c:pt>
              </c:strCache>
            </c:strRef>
          </c:tx>
          <c:spPr>
            <a:solidFill>
              <a:srgbClr val="B85042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2C1810"/>
                    </a:solidFill>
                    <a:latin typeface="Arial"/>
                  </a:defRPr>
                </a:pPr>
                <a:endParaRPr lang="zh-TW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原料成本</c:v>
                </c:pt>
                <c:pt idx="1">
                  <c:v>加工處理</c:v>
                </c:pt>
                <c:pt idx="2">
                  <c:v>品牌溢價</c:v>
                </c:pt>
                <c:pt idx="3">
                  <c:v>店面租金</c:v>
                </c:pt>
                <c:pt idx="4">
                  <c:v>人力服務</c:v>
                </c:pt>
                <c:pt idx="5">
                  <c:v>利潤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</c:v>
                </c:pt>
                <c:pt idx="1">
                  <c:v>12</c:v>
                </c:pt>
                <c:pt idx="2">
                  <c:v>25</c:v>
                </c:pt>
                <c:pt idx="3">
                  <c:v>22</c:v>
                </c:pt>
                <c:pt idx="4">
                  <c:v>18</c:v>
                </c:pt>
                <c:pt idx="5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8F5-4418-B0F4-455C70E2272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372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7E8D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B6F4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DF8F0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C7B7FC-A7C6-44CB-A827-4E42B21190A0}" type="datetimeFigureOut">
              <a:t>2026/5/10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E91927-891A-4538-81BA-747F03D1EAB3}" type="slidenum"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225273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5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一杯咖啡的旅程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246888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從產地到你手中的日常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42062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年 5 月</a:t>
            </a:r>
            <a:endParaRPr lang="en-US" sz="14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2918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C24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54864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109728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為什麼聊咖啡？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731520" y="2103120"/>
            <a:ext cx="2377440" cy="2560320"/>
          </a:xfrm>
          <a:prstGeom prst="rect">
            <a:avLst/>
          </a:prstGeom>
          <a:solidFill>
            <a:srgbClr val="5C3A1E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960120" y="23317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全球飲品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960120" y="2880360"/>
            <a:ext cx="1920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每天超過 20 億杯咖啡被消費，是世界上最普及的飲品之一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3383280" y="2103120"/>
            <a:ext cx="2377440" cy="2560320"/>
          </a:xfrm>
          <a:prstGeom prst="rect">
            <a:avLst/>
          </a:prstGeom>
          <a:solidFill>
            <a:srgbClr val="5C3A1E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3611880" y="23317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完整產業鏈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3611880" y="2880360"/>
            <a:ext cx="1920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從農業、貿易、品牌到文化，涵蓋一整條跨國產業鏈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035040" y="2103120"/>
            <a:ext cx="2377440" cy="2560320"/>
          </a:xfrm>
          <a:prstGeom prst="rect">
            <a:avLst/>
          </a:prstGeom>
          <a:solidFill>
            <a:srgbClr val="5C3A1E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263640" y="23317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從小看大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6263640" y="2880360"/>
            <a:ext cx="1920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一個日常的小事，背後是龐大的全球經濟體系運作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D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agent/turn1/workspace/images/coffee-beans-growing-on-a-lush-coffee-plantation-r_2026-05-10T07-15-51_image_DAS_0.jpg"/>
          <p:cNvPicPr>
            <a:picLocks noChangeAspect="1"/>
          </p:cNvPicPr>
          <p:nvPr/>
        </p:nvPicPr>
        <p:blipFill>
          <a:blip r:embed="rId3"/>
          <a:srcRect l="21997" r="21997"/>
          <a:stretch/>
        </p:blipFill>
        <p:spPr>
          <a:xfrm>
            <a:off x="0" y="0"/>
            <a:ext cx="438912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457200"/>
            <a:ext cx="411480" cy="41148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846320" y="91440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C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咖啡的起點：種植</a:t>
            </a:r>
            <a:endParaRPr lang="en-US" sz="3000" dirty="0"/>
          </a:p>
        </p:txBody>
      </p:sp>
      <p:sp>
        <p:nvSpPr>
          <p:cNvPr id="5" name="Shape 1"/>
          <p:cNvSpPr/>
          <p:nvPr/>
        </p:nvSpPr>
        <p:spPr>
          <a:xfrm>
            <a:off x="4846320" y="1783080"/>
            <a:ext cx="3840480" cy="640080"/>
          </a:xfrm>
          <a:prstGeom prst="rect">
            <a:avLst/>
          </a:prstGeom>
          <a:solidFill>
            <a:srgbClr val="E7E8D1"/>
          </a:solidFill>
          <a:ln/>
        </p:spPr>
      </p:sp>
      <p:sp>
        <p:nvSpPr>
          <p:cNvPr id="6" name="Text 2"/>
          <p:cNvSpPr/>
          <p:nvPr/>
        </p:nvSpPr>
        <p:spPr>
          <a:xfrm>
            <a:off x="5029200" y="182880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主要產地</a:t>
            </a:r>
            <a:endParaRPr lang="en-US" sz="13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非洲、南美洲、東南亞</a:t>
            </a:r>
            <a:endParaRPr lang="en-US" sz="1300" dirty="0"/>
          </a:p>
        </p:txBody>
      </p:sp>
      <p:sp>
        <p:nvSpPr>
          <p:cNvPr id="7" name="Shape 3"/>
          <p:cNvSpPr/>
          <p:nvPr/>
        </p:nvSpPr>
        <p:spPr>
          <a:xfrm>
            <a:off x="4846320" y="2560320"/>
            <a:ext cx="3840480" cy="640080"/>
          </a:xfrm>
          <a:prstGeom prst="rect">
            <a:avLst/>
          </a:prstGeom>
          <a:solidFill>
            <a:srgbClr val="E7E8D1"/>
          </a:solidFill>
          <a:ln/>
        </p:spPr>
      </p:sp>
      <p:sp>
        <p:nvSpPr>
          <p:cNvPr id="8" name="Text 4"/>
          <p:cNvSpPr/>
          <p:nvPr/>
        </p:nvSpPr>
        <p:spPr>
          <a:xfrm>
            <a:off x="5029200" y="260604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氣候條件</a:t>
            </a:r>
            <a:endParaRPr lang="en-US" sz="13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高海拔（1000-2000m）、適當溫度與雨量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4846320" y="3337560"/>
            <a:ext cx="3840480" cy="640080"/>
          </a:xfrm>
          <a:prstGeom prst="rect">
            <a:avLst/>
          </a:prstGeom>
          <a:solidFill>
            <a:srgbClr val="E7E8D1"/>
          </a:solidFill>
          <a:ln/>
        </p:spPr>
      </p:sp>
      <p:sp>
        <p:nvSpPr>
          <p:cNvPr id="10" name="Text 6"/>
          <p:cNvSpPr/>
          <p:nvPr/>
        </p:nvSpPr>
        <p:spPr>
          <a:xfrm>
            <a:off x="5029200" y="338328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Arabica</a:t>
            </a:r>
            <a:endParaRPr lang="en-US" sz="13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風味細緻、酸度明亮，佔全球產量 60%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4846320" y="4114800"/>
            <a:ext cx="3840480" cy="640080"/>
          </a:xfrm>
          <a:prstGeom prst="rect">
            <a:avLst/>
          </a:prstGeom>
          <a:solidFill>
            <a:srgbClr val="E7E8D1"/>
          </a:solidFill>
          <a:ln/>
        </p:spPr>
      </p:sp>
      <p:sp>
        <p:nvSpPr>
          <p:cNvPr id="12" name="Text 8"/>
          <p:cNvSpPr/>
          <p:nvPr/>
        </p:nvSpPr>
        <p:spPr>
          <a:xfrm>
            <a:off x="5029200" y="416052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Robusta</a:t>
            </a:r>
            <a:endParaRPr lang="en-US" sz="13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苦味較重、咖啡因高，價格較低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3C24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457200"/>
            <a:ext cx="411480" cy="411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91440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採收與處理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731520" y="1920240"/>
            <a:ext cx="3657600" cy="2743200"/>
          </a:xfrm>
          <a:prstGeom prst="rect">
            <a:avLst/>
          </a:prstGeom>
          <a:solidFill>
            <a:srgbClr val="5C3A1E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1005840" y="21031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採收方式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005840" y="2606040"/>
            <a:ext cx="3108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手摘採收</a:t>
            </a:r>
            <a:endParaRPr lang="en-US" sz="13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精選成熟果實，品質高但成本貴</a:t>
            </a:r>
            <a:endParaRPr lang="en-US" sz="1300" dirty="0"/>
          </a:p>
          <a:p>
            <a:pPr marL="0" indent="0" algn="l">
              <a:lnSpc>
                <a:spcPct val="130000"/>
              </a:lnSpc>
              <a:buNone/>
            </a:pPr>
            <a:endParaRPr lang="en-US" sz="13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機械採收</a:t>
            </a:r>
            <a:endParaRPr lang="en-US" sz="13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效率高，適合大規模農場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754880" y="1920240"/>
            <a:ext cx="3657600" cy="2743200"/>
          </a:xfrm>
          <a:prstGeom prst="rect">
            <a:avLst/>
          </a:prstGeom>
          <a:solidFill>
            <a:srgbClr val="5C3A1E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029200" y="21031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處理法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5029200" y="2606040"/>
            <a:ext cx="3108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水洗法 — </a:t>
            </a:r>
            <a:r>
              <a:rPr lang="en-US" sz="12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乾淨明亮的風味</a:t>
            </a:r>
            <a:endParaRPr lang="en-US" sz="1300" dirty="0"/>
          </a:p>
          <a:p>
            <a:pPr marL="0" indent="0" algn="l">
              <a:lnSpc>
                <a:spcPct val="130000"/>
              </a:lnSpc>
              <a:buNone/>
            </a:pPr>
            <a:endParaRPr lang="en-US" sz="13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日曬法 — </a:t>
            </a:r>
            <a:r>
              <a:rPr lang="en-US" sz="12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果香濃郁、甜感突出</a:t>
            </a:r>
            <a:endParaRPr lang="en-US" sz="1300" dirty="0"/>
          </a:p>
          <a:p>
            <a:pPr marL="0" indent="0" algn="l">
              <a:lnSpc>
                <a:spcPct val="130000"/>
              </a:lnSpc>
              <a:buNone/>
            </a:pPr>
            <a:endParaRPr lang="en-US" sz="13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蜜處理 — </a:t>
            </a:r>
            <a:r>
              <a:rPr lang="en-US" sz="12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介於兩者之間，口感滑順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D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agent/turn1/workspace/images/coffee-roasting-process-freshly-roasted-coffee-bea_2026-05-10T07-15-38_image_DAS_0.jpg"/>
          <p:cNvPicPr>
            <a:picLocks noChangeAspect="1"/>
          </p:cNvPicPr>
          <p:nvPr/>
        </p:nvPicPr>
        <p:blipFill>
          <a:blip r:embed="rId3"/>
          <a:srcRect l="20653" r="20653"/>
          <a:stretch/>
        </p:blipFill>
        <p:spPr>
          <a:xfrm>
            <a:off x="4754880" y="0"/>
            <a:ext cx="438912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57200"/>
            <a:ext cx="411480" cy="41148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31520" y="91440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C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烘焙：風味的關鍵</a:t>
            </a:r>
            <a:endParaRPr lang="en-US" sz="3000" dirty="0"/>
          </a:p>
        </p:txBody>
      </p:sp>
      <p:sp>
        <p:nvSpPr>
          <p:cNvPr id="5" name="Shape 1"/>
          <p:cNvSpPr/>
          <p:nvPr/>
        </p:nvSpPr>
        <p:spPr>
          <a:xfrm>
            <a:off x="731520" y="1691640"/>
            <a:ext cx="457200" cy="731520"/>
          </a:xfrm>
          <a:prstGeom prst="rect">
            <a:avLst/>
          </a:prstGeom>
          <a:solidFill>
            <a:srgbClr val="C4956A"/>
          </a:solidFill>
          <a:ln/>
        </p:spPr>
      </p:sp>
      <p:sp>
        <p:nvSpPr>
          <p:cNvPr id="6" name="Text 2"/>
          <p:cNvSpPr/>
          <p:nvPr/>
        </p:nvSpPr>
        <p:spPr>
          <a:xfrm>
            <a:off x="1371600" y="1691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C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淺焙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1371600" y="203911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果酸明亮、花香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731520" y="2514600"/>
            <a:ext cx="457200" cy="731520"/>
          </a:xfrm>
          <a:prstGeom prst="rect">
            <a:avLst/>
          </a:prstGeom>
          <a:solidFill>
            <a:srgbClr val="9B6B3D"/>
          </a:solidFill>
          <a:ln/>
        </p:spPr>
      </p:sp>
      <p:sp>
        <p:nvSpPr>
          <p:cNvPr id="9" name="Text 5"/>
          <p:cNvSpPr/>
          <p:nvPr/>
        </p:nvSpPr>
        <p:spPr>
          <a:xfrm>
            <a:off x="1371600" y="25146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C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中焙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1371600" y="286207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平衡甜感、堅果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731520" y="3337560"/>
            <a:ext cx="457200" cy="731520"/>
          </a:xfrm>
          <a:prstGeom prst="rect">
            <a:avLst/>
          </a:prstGeom>
          <a:solidFill>
            <a:srgbClr val="5C3A1E"/>
          </a:solidFill>
          <a:ln/>
        </p:spPr>
      </p:sp>
      <p:sp>
        <p:nvSpPr>
          <p:cNvPr id="12" name="Text 8"/>
          <p:cNvSpPr/>
          <p:nvPr/>
        </p:nvSpPr>
        <p:spPr>
          <a:xfrm>
            <a:off x="1371600" y="33375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C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深焙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1371600" y="368503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苦味焦糖、濃厚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731520" y="39319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烘焙師透過控制溫度與時間，決定咖啡最終的風味走向。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3C24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agent/turn1/workspace/images/artisan-hand-pour-over-coffee-brewing-ceramic-drip_2026-05-10T07-15-38_image_DAS_0.jpg"/>
          <p:cNvPicPr>
            <a:picLocks noChangeAspect="1"/>
          </p:cNvPicPr>
          <p:nvPr/>
        </p:nvPicPr>
        <p:blipFill>
          <a:blip r:embed="rId3"/>
          <a:srcRect l="22487" r="22487"/>
          <a:stretch/>
        </p:blipFill>
        <p:spPr>
          <a:xfrm>
            <a:off x="0" y="0"/>
            <a:ext cx="41148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457200"/>
            <a:ext cx="411480" cy="41148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663440" y="91440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研磨與沖泡</a:t>
            </a:r>
            <a:endParaRPr lang="en-US" sz="3000" dirty="0"/>
          </a:p>
        </p:txBody>
      </p:sp>
      <p:sp>
        <p:nvSpPr>
          <p:cNvPr id="5" name="Shape 1"/>
          <p:cNvSpPr/>
          <p:nvPr/>
        </p:nvSpPr>
        <p:spPr>
          <a:xfrm>
            <a:off x="4663440" y="1783080"/>
            <a:ext cx="4023360" cy="685800"/>
          </a:xfrm>
          <a:prstGeom prst="rect">
            <a:avLst/>
          </a:prstGeom>
          <a:solidFill>
            <a:srgbClr val="5C3A1E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2"/>
          <p:cNvSpPr/>
          <p:nvPr/>
        </p:nvSpPr>
        <p:spPr>
          <a:xfrm>
            <a:off x="4892040" y="185623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手沖</a:t>
            </a:r>
            <a:endParaRPr lang="en-US" sz="1500" dirty="0"/>
          </a:p>
        </p:txBody>
      </p:sp>
      <p:sp>
        <p:nvSpPr>
          <p:cNvPr id="7" name="Text 3"/>
          <p:cNvSpPr/>
          <p:nvPr/>
        </p:nvSpPr>
        <p:spPr>
          <a:xfrm>
            <a:off x="4892040" y="21488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細緻控制，凸顯產地風味</a:t>
            </a:r>
            <a:endParaRPr lang="en-US" sz="1200" dirty="0"/>
          </a:p>
        </p:txBody>
      </p:sp>
      <p:sp>
        <p:nvSpPr>
          <p:cNvPr id="8" name="Shape 4"/>
          <p:cNvSpPr/>
          <p:nvPr/>
        </p:nvSpPr>
        <p:spPr>
          <a:xfrm>
            <a:off x="4663440" y="2651760"/>
            <a:ext cx="4023360" cy="685800"/>
          </a:xfrm>
          <a:prstGeom prst="rect">
            <a:avLst/>
          </a:prstGeom>
          <a:solidFill>
            <a:srgbClr val="5C3A1E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4892040" y="272491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義式咖啡機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4892040" y="30175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高壓萃取，濃縮精華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4663440" y="3520440"/>
            <a:ext cx="4023360" cy="685800"/>
          </a:xfrm>
          <a:prstGeom prst="rect">
            <a:avLst/>
          </a:prstGeom>
          <a:solidFill>
            <a:srgbClr val="5C3A1E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4892040" y="359359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法壓壺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892040" y="38862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浸泡式萃取，口感醇厚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4663440" y="411480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研磨粗細 × 水溫 × 時間 — 三者的平衡決定了一杯咖啡的好壞。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D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457200"/>
            <a:ext cx="411480" cy="411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91440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C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一杯咖啡的成本結構</a:t>
            </a:r>
            <a:endParaRPr lang="en-US" sz="3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731520" y="1737360"/>
          <a:ext cx="457200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5" name="Shape 1"/>
          <p:cNvSpPr/>
          <p:nvPr/>
        </p:nvSpPr>
        <p:spPr>
          <a:xfrm>
            <a:off x="5760720" y="1737360"/>
            <a:ext cx="2926080" cy="1280160"/>
          </a:xfrm>
          <a:prstGeom prst="rect">
            <a:avLst/>
          </a:prstGeom>
          <a:solidFill>
            <a:srgbClr val="E7E8D1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2"/>
          <p:cNvSpPr/>
          <p:nvPr/>
        </p:nvSpPr>
        <p:spPr>
          <a:xfrm>
            <a:off x="5989320" y="1828800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原料成本極低</a:t>
            </a:r>
            <a:endParaRPr lang="en-US" sz="15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一杯咖啡的豆子成本可能不到售價的 10%，大部分價值由後段環節創造。</a:t>
            </a:r>
            <a:endParaRPr lang="en-US" sz="1500" dirty="0"/>
          </a:p>
        </p:txBody>
      </p:sp>
      <p:sp>
        <p:nvSpPr>
          <p:cNvPr id="7" name="Shape 3"/>
          <p:cNvSpPr/>
          <p:nvPr/>
        </p:nvSpPr>
        <p:spPr>
          <a:xfrm>
            <a:off x="5760720" y="3291840"/>
            <a:ext cx="2926080" cy="1280160"/>
          </a:xfrm>
          <a:prstGeom prst="rect">
            <a:avLst/>
          </a:prstGeom>
          <a:solidFill>
            <a:srgbClr val="E7E8D1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5989320" y="3383280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價差可達 10 倍</a:t>
            </a:r>
            <a:endParaRPr lang="en-US" sz="15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從超商到精品咖啡，品牌、空間與體驗是價格倍增的關鍵。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3C24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agent/turn1/workspace/images/cozy-modern-coffee-shop-interior-with-people-socia_2026-05-10T07-15-38_image_DAS_0.jpg"/>
          <p:cNvPicPr>
            <a:picLocks noChangeAspect="1"/>
          </p:cNvPicPr>
          <p:nvPr/>
        </p:nvPicPr>
        <p:blipFill>
          <a:blip r:embed="rId3"/>
          <a:srcRect t="9111" b="9111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咖啡與生活方式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731520" y="2560320"/>
            <a:ext cx="2468880" cy="2103120"/>
          </a:xfrm>
          <a:prstGeom prst="rect">
            <a:avLst/>
          </a:prstGeom>
          <a:solidFill>
            <a:srgbClr val="3C2415">
              <a:alpha val="80000"/>
            </a:srgbClr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914400" y="27432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社交空間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914400" y="320040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咖啡館是人們交流想法、建立關係的第三空間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474720" y="2560320"/>
            <a:ext cx="2468880" cy="2103120"/>
          </a:xfrm>
          <a:prstGeom prst="rect">
            <a:avLst/>
          </a:prstGeom>
          <a:solidFill>
            <a:srgbClr val="3C2415">
              <a:alpha val="80000"/>
            </a:srgbClr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3657600" y="27432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工作效率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3657600" y="320040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咖啡因提升專注力與精神狀態，是職場的隱形夥伴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217920" y="2560320"/>
            <a:ext cx="2468880" cy="2103120"/>
          </a:xfrm>
          <a:prstGeom prst="rect">
            <a:avLst/>
          </a:prstGeom>
          <a:solidFill>
            <a:srgbClr val="3C2415">
              <a:alpha val="80000"/>
            </a:srgbClr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400800" y="27432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品味象徵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6400800" y="320040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精品咖啡代表一種對生活品質的追求與個人風格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D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457200"/>
            <a:ext cx="411480" cy="411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91440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C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咖啡產業的變化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731520" y="1828800"/>
            <a:ext cx="2468880" cy="2834640"/>
          </a:xfrm>
          <a:prstGeom prst="rect">
            <a:avLst/>
          </a:prstGeom>
          <a:solidFill>
            <a:srgbClr val="E7E8D1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914400" y="20116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精品咖啡浪潮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914400" y="2560320"/>
            <a:ext cx="21031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第三波咖啡運動</a:t>
            </a:r>
            <a:endParaRPr lang="en-US" sz="12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強調產地風味</a:t>
            </a:r>
            <a:endParaRPr lang="en-US" sz="12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從「喝咖啡」到「品咖啡」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3474720" y="1828800"/>
            <a:ext cx="2468880" cy="2834640"/>
          </a:xfrm>
          <a:prstGeom prst="rect">
            <a:avLst/>
          </a:prstGeom>
          <a:solidFill>
            <a:srgbClr val="E7E8D1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3657600" y="20116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8B6F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連鎖品牌效應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3657600" y="2560320"/>
            <a:ext cx="21031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標準化的咖啡體驗</a:t>
            </a:r>
            <a:endParaRPr lang="en-US" sz="12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全球化消費文化</a:t>
            </a:r>
            <a:endParaRPr lang="en-US" sz="12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帶動咖啡普及化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217920" y="1828800"/>
            <a:ext cx="2468880" cy="2834640"/>
          </a:xfrm>
          <a:prstGeom prst="rect">
            <a:avLst/>
          </a:prstGeom>
          <a:solidFill>
            <a:srgbClr val="E7E8D1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400800" y="20116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A7BEA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永續與公平貿易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400800" y="2560320"/>
            <a:ext cx="21031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ESG 趨勢推動變革</a:t>
            </a:r>
            <a:endParaRPr lang="en-US" sz="12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農民獲得合理報酬</a:t>
            </a:r>
            <a:endParaRPr lang="en-US" sz="12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環境友善種植方式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3C24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45720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109728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不只是咖啡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1188720" y="210312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一杯咖啡 = 全球產業鏈的縮影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822960" y="2240280"/>
            <a:ext cx="182880" cy="18288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6" name="Text 3"/>
          <p:cNvSpPr/>
          <p:nvPr/>
        </p:nvSpPr>
        <p:spPr>
          <a:xfrm>
            <a:off x="1188720" y="265176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每個環節——從種植到沖泡——都在創造價值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822960" y="2788920"/>
            <a:ext cx="182880" cy="18288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8" name="Text 5"/>
          <p:cNvSpPr/>
          <p:nvPr/>
        </p:nvSpPr>
        <p:spPr>
          <a:xfrm>
            <a:off x="1188720" y="320040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我們每天都在參與這個系統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822960" y="3337560"/>
            <a:ext cx="182880" cy="18288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0" name="Shape 7"/>
          <p:cNvSpPr/>
          <p:nvPr/>
        </p:nvSpPr>
        <p:spPr>
          <a:xfrm>
            <a:off x="731520" y="3657600"/>
            <a:ext cx="7680960" cy="1097280"/>
          </a:xfrm>
          <a:prstGeom prst="rect">
            <a:avLst/>
          </a:prstGeom>
          <a:solidFill>
            <a:srgbClr val="5C3A1E"/>
          </a:solidFill>
          <a:ln/>
        </p:spPr>
      </p:sp>
      <p:sp>
        <p:nvSpPr>
          <p:cNvPr id="11" name="Text 8"/>
          <p:cNvSpPr/>
          <p:nvPr/>
        </p:nvSpPr>
        <p:spPr>
          <a:xfrm>
            <a:off x="1097280" y="379476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i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「我們喝的不是咖啡，而是一整個世界的運作。」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如螢幕大小 (16:9)</PresentationFormat>
  <Paragraphs>0</Paragraphs>
  <Slides>10</Slides>
  <Notes>10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10</vt:i4>
      </vt:variant>
    </vt:vector>
  </HeadingPairs>
  <TitlesOfParts>
    <vt:vector size="11" baseType="lpstr"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3</cp:revision>
  <dcterms:created xsi:type="dcterms:W3CDTF">2026-05-10T07:07:45Z</dcterms:created>
  <dcterms:modified xsi:type="dcterms:W3CDTF">2026-05-10T07:23:32Z</dcterms:modified>
</cp:coreProperties>
</file>